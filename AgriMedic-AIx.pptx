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ist SemiBold"/>
      <p:regular r:id="rId201314"/>
    </p:embeddedFont>
    <p:embeddedFont>
      <p:font typeface="Geist Bold"/>
      <p:regular r:id="rId201315"/>
    </p:embeddedFont>
    <p:embeddedFont>
      <p:font typeface="Geist Black"/>
      <p:regular r:id="rId201316"/>
    </p:embeddedFont>
    <p:embeddedFont>
      <p:font typeface="Geist"/>
      <p:regular r:id="rId201317"/>
    </p:embeddedFont>
    <p:embeddedFont>
      <p:font typeface="Noto Serif Black"/>
      <p:regular r:id="rId201318"/>
    </p:embeddedFont>
    <p:embeddedFont>
      <p:font typeface="Noto Serif"/>
      <p:regular r:id="rId201319"/>
    </p:embeddedFont>
    <p:embeddedFont>
      <p:font typeface="Noto Serif SemiBold"/>
      <p:regular r:id="rId201320"/>
    </p:embeddedFont>
    <p:embeddedFont>
      <p:font typeface="Noto Serif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58316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AgriMedic AIx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AI-Powered Agricultural Assistant  ·  AI Hackathon Pakistan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ID: P02726  ·  Muzamil Asghar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03951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Problem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1913632"/>
            <a:ext cx="3053877" cy="2311499"/>
          </a:xfrm>
          <a:prstGeom prst="roundRect">
            <a:avLst>
              <a:gd name="adj" fmla="val 736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108994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Hard to Diagnose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517676"/>
            <a:ext cx="26631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Crop diseases, pests, and nutrient deficiencies often produce similar visual symptoms — making accurate identification challenging.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1913632"/>
            <a:ext cx="3053976" cy="2311499"/>
          </a:xfrm>
          <a:prstGeom prst="roundRect">
            <a:avLst>
              <a:gd name="adj" fmla="val 736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108994"/>
            <a:ext cx="26632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Limited Access to Experts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812951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Many farmers lack timely access to agronomists or lab testing, leaving crop problems unresolved and spreading.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414143"/>
            <a:ext cx="6296860" cy="1404243"/>
          </a:xfrm>
          <a:prstGeom prst="roundRect">
            <a:avLst>
              <a:gd name="adj" fmla="val 12114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60950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Need for Practical Guidance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01818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Farmers need simple, accessible tools — not complex reports. Visual image upload can provide critical diagnostic context.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286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Our Solution: AgriMedic AIx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40669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simple AI-assisted web application that collects crop details, symptoms, and photos — then delivers practical agricultural guidance.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164" y="1971477"/>
            <a:ext cx="9701267" cy="41835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7915" y="5361676"/>
            <a:ext cx="2526312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Guidance &amp; Next Steps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897915" y="4393250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Google Gemini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897915" y="3434605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AgriMedic AIx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97915" y="2466179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Farmer Input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49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How It Works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97261"/>
            <a:ext cx="189007" cy="1890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169517"/>
            <a:ext cx="5339820" cy="254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231477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Select Crop Type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1897261"/>
            <a:ext cx="189007" cy="1890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90301" y="2169517"/>
            <a:ext cx="5339919" cy="254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8" name="Text 4"/>
          <p:cNvSpPr/>
          <p:nvPr/>
        </p:nvSpPr>
        <p:spPr>
          <a:xfrm>
            <a:off x="6190301" y="2314773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Enter Crop Age &amp; Farm Info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964359"/>
            <a:ext cx="189007" cy="18901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61475" y="3236615"/>
            <a:ext cx="5339820" cy="254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1" name="Text 6"/>
          <p:cNvSpPr/>
          <p:nvPr/>
        </p:nvSpPr>
        <p:spPr>
          <a:xfrm>
            <a:off x="661475" y="338187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Describe Visible Symptoms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2964359"/>
            <a:ext cx="189007" cy="18901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190301" y="3236615"/>
            <a:ext cx="5339919" cy="254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4" name="Text 8"/>
          <p:cNvSpPr/>
          <p:nvPr/>
        </p:nvSpPr>
        <p:spPr>
          <a:xfrm>
            <a:off x="6190301" y="3381871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Upload Crop or Leaf Photo</a:t>
            </a:r>
            <a:endParaRPr lang="en-US" sz="1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031456"/>
            <a:ext cx="189007" cy="18901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61475" y="4303712"/>
            <a:ext cx="5339820" cy="254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7" name="Text 10"/>
          <p:cNvSpPr/>
          <p:nvPr/>
        </p:nvSpPr>
        <p:spPr>
          <a:xfrm>
            <a:off x="661475" y="444896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Ask Your Agricultural Question</a:t>
            </a:r>
            <a:endParaRPr lang="en-US" sz="18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0301" y="4031456"/>
            <a:ext cx="189007" cy="18901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190301" y="4303712"/>
            <a:ext cx="5339919" cy="254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0" name="Text 12"/>
          <p:cNvSpPr/>
          <p:nvPr/>
        </p:nvSpPr>
        <p:spPr>
          <a:xfrm>
            <a:off x="6190301" y="4448969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Analyzes Data &amp; Image</a:t>
            </a:r>
            <a:endParaRPr lang="en-US" sz="18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5098554"/>
            <a:ext cx="189007" cy="189012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661475" y="5370810"/>
            <a:ext cx="5339820" cy="254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3" name="Text 14"/>
          <p:cNvSpPr/>
          <p:nvPr/>
        </p:nvSpPr>
        <p:spPr>
          <a:xfrm>
            <a:off x="661475" y="5516066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Receive Agricultural Guidance</a:t>
            </a:r>
            <a:endParaRPr lang="en-US" sz="18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90301" y="5098554"/>
            <a:ext cx="189007" cy="189012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6190301" y="5370810"/>
            <a:ext cx="5339919" cy="254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6" name="Text 16"/>
          <p:cNvSpPr/>
          <p:nvPr/>
        </p:nvSpPr>
        <p:spPr>
          <a:xfrm>
            <a:off x="6190301" y="5516066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Save or Download Report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469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Crop Image Analysis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42" y="2045097"/>
            <a:ext cx="6227408" cy="3528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2189" y="1638995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What the AI Does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2189" y="2057797"/>
            <a:ext cx="3534282" cy="2853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Uploaded image sent to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Google Gemini Vision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Analyzes visible crop and leaf characteristics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Identifies likely crop type when possible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Describes observed symptoms clearly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Suggests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possible causes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with confidence level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Explains limitations and requests more info if needed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002189" y="5083572"/>
            <a:ext cx="3534282" cy="877491"/>
          </a:xfrm>
          <a:prstGeom prst="roundRect">
            <a:avLst>
              <a:gd name="adj" fmla="val 17448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246" y="5314454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54923" y="5263753"/>
            <a:ext cx="281149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⚠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AI-assisted analysis only — not a confirmed laboratory diagnosis.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392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Features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86223"/>
            <a:ext cx="359064" cy="3590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58516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Crop Information Input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1475" y="2641302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Select crop type, age, location, soil condition, and fertilizer data.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2406" y="1686223"/>
            <a:ext cx="359064" cy="3590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2406" y="2258516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Symptom Reporting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02406" y="2641302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Describe what you observe in plain language.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262511"/>
            <a:ext cx="359064" cy="3590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834805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Image Upload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61475" y="4217591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crop or leaf photos for visual AI analysis.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2406" y="3262511"/>
            <a:ext cx="359064" cy="3590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2406" y="3834805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Irrigation &amp; Fertilizer Guidance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202406" y="4217591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Tailored recommendations based on your farm inputs.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838799"/>
            <a:ext cx="359064" cy="3590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411093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Report History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661475" y="5793879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Access and review all previous analyses in one place.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02406" y="4838799"/>
            <a:ext cx="359064" cy="35907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02406" y="5411093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Downloadable Reports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6202406" y="5793879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Save AI guidance reports for offline reference.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13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Technology &amp; Architecture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070" y="2512814"/>
            <a:ext cx="5888287" cy="25392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7313" y="4570492"/>
            <a:ext cx="1335842" cy="166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Analysis &amp; Report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577313" y="3982707"/>
            <a:ext cx="1335842" cy="166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Google Gemini AI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577313" y="3400858"/>
            <a:ext cx="133584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Input Data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577313" y="2813073"/>
            <a:ext cx="1335842" cy="166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User Interface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87207" y="1397496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Technology Stack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987207" y="1802110"/>
            <a:ext cx="3549264" cy="984647"/>
          </a:xfrm>
          <a:prstGeom prst="roundRect">
            <a:avLst>
              <a:gd name="adj" fmla="val 14685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66888" y="1981795"/>
            <a:ext cx="318990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Python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166888" y="2369344"/>
            <a:ext cx="31899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Core application logic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87207" y="2923282"/>
            <a:ext cx="3549264" cy="984647"/>
          </a:xfrm>
          <a:prstGeom prst="roundRect">
            <a:avLst>
              <a:gd name="adj" fmla="val 14685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6888" y="3102967"/>
            <a:ext cx="318990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Streamlit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166888" y="3490516"/>
            <a:ext cx="31899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 application framework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87207" y="4044454"/>
            <a:ext cx="3549264" cy="984647"/>
          </a:xfrm>
          <a:prstGeom prst="roundRect">
            <a:avLst>
              <a:gd name="adj" fmla="val 14685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66888" y="4224139"/>
            <a:ext cx="318990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Google Gemini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166888" y="4611688"/>
            <a:ext cx="31899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vision and analysis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987207" y="5165626"/>
            <a:ext cx="3549264" cy="984647"/>
          </a:xfrm>
          <a:prstGeom prst="roundRect">
            <a:avLst>
              <a:gd name="adj" fmla="val 14685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66888" y="5345311"/>
            <a:ext cx="318990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GenAI SDK + Secrets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166888" y="5732859"/>
            <a:ext cx="31899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API integration and security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680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Demo: Real Use Case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421904"/>
            <a:ext cx="1620102" cy="243979"/>
          </a:xfrm>
          <a:prstGeom prst="roundRect">
            <a:avLst>
              <a:gd name="adj" fmla="val 47414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57814" y="1470025"/>
            <a:ext cx="2037009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WHEAT CROP EXAMPLE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070" y="2346920"/>
            <a:ext cx="5888287" cy="33367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87207" y="1955998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Inputs Provided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87207" y="2343547"/>
            <a:ext cx="3549264" cy="1284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Crop: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Wheat  |  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Age: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30 days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Symptoms: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Yellow &amp; brown spots, drying leaves, spreading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Question: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"What could be causing yellow and brown spots on my wheat leaves?"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87207" y="3764161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Output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87207" y="4151709"/>
            <a:ext cx="3549264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Combined symptom and image analysis suggests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possible causes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nutrient deficiency, fungal infection, or water stress — with cautious next-step recommendations.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987207" y="5256213"/>
            <a:ext cx="3549264" cy="801291"/>
          </a:xfrm>
          <a:prstGeom prst="roundRect">
            <a:avLst>
              <a:gd name="adj" fmla="val 18046"/>
            </a:avLst>
          </a:prstGeom>
          <a:solidFill>
            <a:srgbClr val="FCF2B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838" y="5463679"/>
            <a:ext cx="200814" cy="160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09283" y="5419130"/>
            <a:ext cx="2866556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⚠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AI provides possible causes only — not a confirmed diagnosis.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758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Impact, Limitations &amp; Future Scope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462385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Impact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746945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Limitations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2104132"/>
            <a:ext cx="5249930" cy="997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Analysis quality depends on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image clarity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Wide or blurry images may miss leaf-level symptoms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Output is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not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confirmed laboratory diagnosis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Local expert verification may still be necessary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86640" y="1462385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Future Scope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86640" y="1834654"/>
            <a:ext cx="2564443" cy="1350268"/>
          </a:xfrm>
          <a:prstGeom prst="roundRect">
            <a:avLst>
              <a:gd name="adj" fmla="val 10079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4196" y="1992213"/>
            <a:ext cx="2249332" cy="4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Local Language Support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4196" y="2591991"/>
            <a:ext cx="224933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Urdu and regional language interfaces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972028" y="1834654"/>
            <a:ext cx="2564542" cy="1350268"/>
          </a:xfrm>
          <a:prstGeom prst="roundRect">
            <a:avLst>
              <a:gd name="adj" fmla="val 10079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29583" y="1992213"/>
            <a:ext cx="2249431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🌦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Weather Integration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29583" y="2355751"/>
            <a:ext cx="224943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Forecast-aware agricultural recommendations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86640" y="3305870"/>
            <a:ext cx="2564443" cy="1114028"/>
          </a:xfrm>
          <a:prstGeom prst="roundRect">
            <a:avLst>
              <a:gd name="adj" fmla="val 1221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4196" y="3463429"/>
            <a:ext cx="2249332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📍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GPS Guidance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4196" y="3826966"/>
            <a:ext cx="224933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Location-based crop and soil advice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2028" y="3305870"/>
            <a:ext cx="2564542" cy="1114028"/>
          </a:xfrm>
          <a:prstGeom prst="roundRect">
            <a:avLst>
              <a:gd name="adj" fmla="val 1221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9583" y="3463429"/>
            <a:ext cx="2249431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☁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Cloud &amp; Accounts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29583" y="3826966"/>
            <a:ext cx="224943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Farmer profiles and cloud-stored report history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86640" y="4540845"/>
            <a:ext cx="5249930" cy="896342"/>
          </a:xfrm>
          <a:prstGeom prst="roundRect">
            <a:avLst>
              <a:gd name="adj" fmla="val 1518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4196" y="4698405"/>
            <a:ext cx="4934819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Expert Verification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4196" y="5061942"/>
            <a:ext cx="493481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Agricultural expert review layer for AI outputs</a:t>
            </a:r>
            <a:endParaRPr lang="en-US" sz="11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127" y="5716736"/>
            <a:ext cx="226808" cy="22681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52893" y="5709245"/>
            <a:ext cx="30306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Makes AI-assisted agricultural guidance more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accessible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farmers</a:t>
            </a:r>
            <a:endParaRPr lang="en-US" sz="11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1411" y="5716736"/>
            <a:ext cx="226808" cy="22681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826177" y="5709245"/>
            <a:ext cx="30306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Organizes crop data, symptoms, and image history in one place</a:t>
            </a:r>
            <a:endParaRPr lang="en-US" sz="11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695" y="5716736"/>
            <a:ext cx="226808" cy="22681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99461" y="5709245"/>
            <a:ext cx="303075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image-based assistance where expert access is limited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03485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Smarter Crop Decisions with AI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49961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AgriMedic AIx combines farmer-provided information with AI-powered crop image analysis to deliver practical, accessible agricultural guidance — putting intelligent farming tools in every grower's hands.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619500"/>
            <a:ext cx="6296860" cy="2203648"/>
          </a:xfrm>
          <a:prstGeom prst="roundRect">
            <a:avLst>
              <a:gd name="adj" fmla="val 772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3625850"/>
            <a:ext cx="3142080" cy="1095474"/>
          </a:xfrm>
          <a:custGeom>
            <a:avLst/>
            <a:gdLst/>
            <a:ahLst/>
            <a:cxnLst/>
            <a:rect l="l" t="t" r="r" b="b"/>
            <a:pathLst>
              <a:path w="3142080" h="1095474">
                <a:moveTo>
                  <a:pt x="141764" y="0"/>
                </a:moveTo>
                <a:lnTo>
                  <a:pt x="3142080" y="0"/>
                </a:lnTo>
                <a:lnTo>
                  <a:pt x="3142080" y="1095474"/>
                </a:lnTo>
                <a:lnTo>
                  <a:pt x="0" y="1095474"/>
                </a:lnTo>
                <a:lnTo>
                  <a:pt x="0" y="141768"/>
                </a:lnTo>
                <a:arcTo hR="141768" wR="141764" stAng="10800000" swAng="5400000"/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7" name="Text 4"/>
          <p:cNvSpPr/>
          <p:nvPr/>
        </p:nvSpPr>
        <p:spPr>
          <a:xfrm>
            <a:off x="856832" y="3814862"/>
            <a:ext cx="276406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🌾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AgriMedic AIx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4229894"/>
            <a:ext cx="276406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Hackathon Pakistan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809905" y="3625850"/>
            <a:ext cx="3142080" cy="1095474"/>
          </a:xfrm>
          <a:custGeom>
            <a:avLst/>
            <a:gdLst/>
            <a:ahLst/>
            <a:cxnLst/>
            <a:rect l="l" t="t" r="r" b="b"/>
            <a:pathLst>
              <a:path w="3142080" h="1095474">
                <a:moveTo>
                  <a:pt x="0" y="0"/>
                </a:moveTo>
                <a:lnTo>
                  <a:pt x="3000316" y="0"/>
                </a:lnTo>
                <a:arcTo hR="141768" wR="141764" stAng="16200000" swAng="5400000"/>
                <a:lnTo>
                  <a:pt x="3142080" y="1095474"/>
                </a:lnTo>
                <a:lnTo>
                  <a:pt x="0" y="1095474"/>
                </a:lnTo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0" name="Shape 7"/>
          <p:cNvSpPr/>
          <p:nvPr/>
        </p:nvSpPr>
        <p:spPr>
          <a:xfrm>
            <a:off x="3809905" y="3625850"/>
            <a:ext cx="25399" cy="1095474"/>
          </a:xfrm>
          <a:prstGeom prst="roundRect">
            <a:avLst>
              <a:gd name="adj" fmla="val 50001"/>
            </a:avLst>
          </a:prstGeom>
          <a:solidFill>
            <a:srgbClr val="B7D5CA"/>
          </a:solidFill>
          <a:ln/>
        </p:spPr>
      </p:sp>
      <p:sp>
        <p:nvSpPr>
          <p:cNvPr id="11" name="Text 8"/>
          <p:cNvSpPr/>
          <p:nvPr/>
        </p:nvSpPr>
        <p:spPr>
          <a:xfrm>
            <a:off x="3998912" y="3814862"/>
            <a:ext cx="276406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🆔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Project P02726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3998912" y="4229894"/>
            <a:ext cx="276406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Muzamil Asghar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7825" y="4721324"/>
            <a:ext cx="6284160" cy="1095474"/>
          </a:xfrm>
          <a:custGeom>
            <a:avLst/>
            <a:gdLst/>
            <a:ahLst/>
            <a:cxnLst/>
            <a:rect l="l" t="t" r="r" b="b"/>
            <a:pathLst>
              <a:path w="6284160" h="1095474">
                <a:moveTo>
                  <a:pt x="0" y="0"/>
                </a:moveTo>
                <a:lnTo>
                  <a:pt x="6284160" y="0"/>
                </a:lnTo>
                <a:lnTo>
                  <a:pt x="6284160" y="953707"/>
                </a:lnTo>
                <a:arcTo hR="141768" wR="141764" stAng="0" swAng="5400000"/>
                <a:lnTo>
                  <a:pt x="141764" y="1095474"/>
                </a:lnTo>
                <a:arcTo hR="141768" wR="141764" stAng="5400000" swAng="5400000"/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825" y="472132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5" name="Text 12"/>
          <p:cNvSpPr/>
          <p:nvPr/>
        </p:nvSpPr>
        <p:spPr>
          <a:xfrm>
            <a:off x="856832" y="4910336"/>
            <a:ext cx="5906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Powered by Gemini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856832" y="532536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Google AI Vision Analysis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2026-09-08T11:28:07Z</dcterms:created>
  <dcterms:modified xsi:type="dcterms:W3CDTF">2026-09-08T11:28:07Z</dcterms:modified>
</cp:coreProperties>
</file>